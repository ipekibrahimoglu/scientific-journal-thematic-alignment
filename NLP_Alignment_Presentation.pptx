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94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 present my NLP final project: Analyzing Thematic Alignment in Scientific Journals. Journal: Natural Language Engineering (Cambridge). 287 abstracts, 2015–2024.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journals drift, hard to detect. Our approach: semantic embeddings, cosine similarity, BERTopic. Real journal publications, not arXiv preprints.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5-step pipeline. Real NLE journal papers via Crossref + Semantic Scholar. SBERT embeddings. Cosine similarity = alignment score. BERTopic for topic clustering. Statistical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SBERT maps text to semantic space. MiniLM-L6 is fast and validated. BERTopic: UMAP+HDBSCAN+TF-IDF, reproducible. Alignment score = cosine similarity.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287 abstracts, mean 0.358, 15 outliers, 33% drift. Fully API-driven. Real NLE papers, not arXiv. 2024 low due to indexing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Unimodal: misalignment is a spectrum, not binary. Left tail = outlier papers. 2015 high due to small sample (n=4). Sharp drop in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Boxplot: median (orange) shifts down. Bootstrap CI confirms trend is not noise. Spearman rho=-0.14 p&lt;0.001, Kruskal-Wallis p=0.003. Broad-based decline across all percentiles.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Drift is broad: all percentiles fall. Not just a few bad papers. Outlier spikes 2016, 2022, 2024. 2022 peak = NLP expansion. Most misaligned = Preface with no NLP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topics. Most aligned: Topic 8 = extraction, QA. Least aligned: Topic 10 = peripheral. Drift is topic-driven, identifiable, not random.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UMAP: 384-dim → 2D. Papers near star score higher (green). Red cluster at bottom = outlier group. Visual confirmation of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SPECTER higher (domain fine-tuning). All 3 agree on drift direction. High pairwise correlations = robust rankings. Threshold needs recalibration per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drift real, significant, topic-driven, robust. Future: full-text, multi-journal, citation-based.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Thematic Alignment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Scientific Journals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Sentence-BERT · BERTopic · UMAP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142038"/>
          </a:solidFill>
          <a:ln w="12700">
            <a:solidFill>
              <a:srgbClr val="1420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İpek İbrahimoğlu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245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Università degli Studi di Milano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4864" cy="3429000"/>
          </a:xfrm>
          <a:prstGeom prst="rect">
            <a:avLst/>
          </a:prstGeom>
          <a:solidFill>
            <a:srgbClr val="2E6EB5"/>
          </a:solidFill>
          <a:ln w="1270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8404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define scope via Aims &amp; Scope statements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published content can drift over 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this drift is critical for bibliometrics, peer-review routing, and indexing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methods fail — same concepts appear under different vocabulary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54864" cy="34290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8404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Aims &amp; Scope + abstracts into the same vector space using Sentence-BERT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alignment via cosine similarity → one score per paper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thematic drift as a downward trend in annual mean scores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topics are driving the change using BERTopic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Research Question &amp;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quantitatively detect thematic drift in a scientific journal by measuring the semantic alignment between its published papers and its Aims &amp; Scope?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1591056" cy="2560320"/>
          </a:xfrm>
          <a:prstGeom prst="rect">
            <a:avLst/>
          </a:prstGeom>
          <a:solidFill>
            <a:srgbClr val="2E6EB5"/>
          </a:solidFill>
          <a:ln w="1270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45059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9992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abstracts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33956" y="1920240"/>
            <a:ext cx="1591056" cy="2560320"/>
          </a:xfrm>
          <a:prstGeom prst="rect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933956" y="20116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33956" y="245059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07108" y="29992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1920240"/>
            <a:ext cx="1591056" cy="256032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547872" y="20116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47872" y="245059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21024" y="29992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Aims &amp; Scope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1788" y="1920240"/>
            <a:ext cx="1591056" cy="2560320"/>
          </a:xfrm>
          <a:prstGeom prst="rect">
            <a:avLst/>
          </a:prstGeom>
          <a:solidFill>
            <a:srgbClr val="2EAA5C"/>
          </a:solidFill>
          <a:ln w="12700">
            <a:solidFill>
              <a:srgbClr val="2EA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161788" y="20116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61788" y="245059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4940" y="29992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HDBSCAN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TF-IDF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75704" y="1920240"/>
            <a:ext cx="1591056" cy="2560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775704" y="20116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75704" y="245059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8856" y="29992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flagging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4864" cy="1828800"/>
          </a:xfrm>
          <a:prstGeom prst="rect">
            <a:avLst/>
          </a:prstGeom>
          <a:solidFill>
            <a:srgbClr val="2E6EB5"/>
          </a:solidFill>
          <a:ln w="1270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48056" y="106984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" y="1399032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trained with siamese network. Maps text into a shared semantic vector space where cosine similarity reflects meaning similarity [1].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54864" cy="1828800"/>
          </a:xfrm>
          <a:prstGeom prst="rect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91456" y="106984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91456" y="1399032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distilled model, 384-dimensional L2-normalized output. Fast and optimized for semantic similarity. Validated against all-mpnet-base-v2 and allenai-specter.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54864" cy="1508760"/>
          </a:xfrm>
          <a:prstGeom prst="rect">
            <a:avLst/>
          </a:prstGeom>
          <a:solidFill>
            <a:srgbClr val="2EAA5C"/>
          </a:solidFill>
          <a:ln w="12700">
            <a:solidFill>
              <a:srgbClr val="2EA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48056" y="303580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" y="3364992"/>
            <a:ext cx="3959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topic modeling: UMAP compresses vectors → HDBSCAN finds clusters → class-based TF-IDF generates labels. random_state=42 for reproducibility [2, 5].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54864" cy="150876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791456" y="303580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3364992"/>
            <a:ext cx="3959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A(pᵢ) = cosine_similarity(abstract_embedding, scope_vector). Outlier threshold: bottom 5th percentile (score &lt; 0.152). 15 outlier papers (5.2%).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Dataset &amp; Key Statistics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1234440"/>
          </a:xfrm>
          <a:prstGeom prst="rect">
            <a:avLst/>
          </a:prstGeom>
          <a:solidFill>
            <a:srgbClr val="2E6EB5"/>
          </a:solidFill>
          <a:ln w="1270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7609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2011680" cy="123444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423160" y="1051560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67609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alignment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960120"/>
            <a:ext cx="2011680" cy="12344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26280" y="1051560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26280" y="167609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papers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(5.2%)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960120"/>
            <a:ext cx="2011680" cy="1234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629400" y="1051560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29400" y="1676095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2015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2024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59152"/>
            <a:ext cx="5303520" cy="23774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20040" y="4754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Retained abstracts per year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2359152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NLE journal (ISSN: 1351-3249) via Crossref + Semantic Scholar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API-driven — no prebuilt dataset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journal publications, not arXiv preprints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low count reflects indexing lag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range: −0.020 to 0.842 · Std dev: 0.111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Alignment Score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43434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6758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Global score distribution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06908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36758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Yearly mean alignment score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0040" y="3977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distribution centered at 0.358 — no clean split between aligned/misaligned papers. Alignment peaked in 2015 (0.450) and declined to 0.303 by 2024 — a 33% drop.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Thematic Drift — Statistical Evidence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43434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6758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Score distribution by year (boxplot)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06908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36758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Yearly mean with 95% Bootstrap CI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4160520"/>
            <a:ext cx="201168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6"/>
          <p:cNvSpPr/>
          <p:nvPr/>
        </p:nvSpPr>
        <p:spPr>
          <a:xfrm>
            <a:off x="32004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−0.0065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/ yr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23160" y="4160520"/>
            <a:ext cx="201168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9"/>
          <p:cNvSpPr/>
          <p:nvPr/>
        </p:nvSpPr>
        <p:spPr>
          <a:xfrm>
            <a:off x="242316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−0.14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42316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26280" y="4160520"/>
            <a:ext cx="201168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2"/>
          <p:cNvSpPr/>
          <p:nvPr/>
        </p:nvSpPr>
        <p:spPr>
          <a:xfrm>
            <a:off x="452628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628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629400" y="4160520"/>
            <a:ext cx="201168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5"/>
          <p:cNvSpPr/>
          <p:nvPr/>
        </p:nvSpPr>
        <p:spPr>
          <a:xfrm>
            <a:off x="662940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24.6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2940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Drift Depth &amp; Outlier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43434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6758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6: Percentile trend (p10 / median / p90)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06908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36758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7: Outlier rate by year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0040" y="3977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p10, median AND p90 all decline → broad-based drift, not just extreme outliers. Spike in 2022 (12.3%) coincides with rapid NLP expansion. Most misaligned: Preface entry, score = −0.020.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Topic Structure — BERTopic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0292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407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8: Mean alignment by BERTopic topic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32120" y="914400"/>
            <a:ext cx="32918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5532120" y="914400"/>
            <a:ext cx="54864" cy="1600200"/>
          </a:xfrm>
          <a:prstGeom prst="rect">
            <a:avLst/>
          </a:prstGeom>
          <a:solidFill>
            <a:srgbClr val="2EAA5C"/>
          </a:solidFill>
          <a:ln w="12700">
            <a:solidFill>
              <a:srgbClr val="2EA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660136" y="10241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Aligned — Topic 8 (≈ 0.44)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0136" y="135331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extraction, question answering, relation detection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Core NLP tasks within journal scope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32120" y="2651760"/>
            <a:ext cx="32918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532120" y="2651760"/>
            <a:ext cx="54864" cy="16002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660136" y="27614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Aligned — Topic 10 (≈ 0.11)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0136" y="309067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content, not core NLP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Identified cluster driving misalignment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topics · UMAP + HDBSCAN + TF-IDF · random_state=42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UMAP Visualization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39496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754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9: UMAP projection colored by alignment score (★ = Aims &amp; Scope)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914400"/>
            <a:ext cx="2880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5943600" y="914400"/>
            <a:ext cx="54864" cy="384048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071616" y="102412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71616" y="1353312"/>
            <a:ext cx="26791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Aims &amp; Scope reference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high alignment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low alignment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near ★ score higher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cluster visible at bottom (score ≈ 0)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Model Comparison — Robustness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8503920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273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10: Score distributions by model (MiniLM-L6: 0.359 · MPNet-Base: 0.446 · SPECTER: 0.782)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66160"/>
            <a:ext cx="5669280" cy="1508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50932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11: Thematic drift by model (2015–2024)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126480" y="356616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6"/>
          <p:cNvSpPr/>
          <p:nvPr/>
        </p:nvSpPr>
        <p:spPr>
          <a:xfrm>
            <a:off x="6126480" y="3566160"/>
            <a:ext cx="54864" cy="1508760"/>
          </a:xfrm>
          <a:prstGeom prst="rect">
            <a:avLst/>
          </a:prstGeom>
          <a:solidFill>
            <a:srgbClr val="2E6EB5"/>
          </a:solidFill>
          <a:ln w="1270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7"/>
          <p:cNvSpPr/>
          <p:nvPr/>
        </p:nvSpPr>
        <p:spPr>
          <a:xfrm>
            <a:off x="6254496" y="36758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54496" y="400507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vs MPNet:   0.806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vs SPECTER: 0.689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MPNet vs SPECTER:  0.612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3 agree on drift direction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Conclusions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3175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524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93392" cy="411480"/>
          </a:xfrm>
          <a:prstGeom prst="rect">
            <a:avLst/>
          </a:prstGeom>
          <a:solidFill>
            <a:srgbClr val="2E6EB5"/>
          </a:solidFill>
          <a:ln w="12700">
            <a:solidFill>
              <a:srgbClr val="2E6E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93192" y="101498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Drift Detected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856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= −0.14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Slope: −0.0065/yr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relative drop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→ 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9601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404872" y="960120"/>
            <a:ext cx="1993392" cy="41148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478024" y="101498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Topic-Driven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1463040"/>
            <a:ext cx="1856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topics identified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aligned: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(QA, extraction)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aligned: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(peripheral)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identifiable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uniform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9704" y="9601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489704" y="960120"/>
            <a:ext cx="1993392" cy="411480"/>
          </a:xfrm>
          <a:prstGeom prst="rect">
            <a:avLst/>
          </a:prstGeom>
          <a:solidFill>
            <a:srgbClr val="2EAA5C"/>
          </a:solidFill>
          <a:ln w="12700">
            <a:solidFill>
              <a:srgbClr val="2EA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562856" y="101498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 Method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81144" y="1463040"/>
            <a:ext cx="1856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encoder models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agree on drift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– 0.81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journal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arXiv proxy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74536" y="9601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574536" y="960120"/>
            <a:ext cx="1993392" cy="411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647688" y="101498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Future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65976" y="1463040"/>
            <a:ext cx="1856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abstracts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Multi-journal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743200" y="2331720"/>
            <a:ext cx="3657600" cy="0"/>
          </a:xfrm>
          <a:prstGeom prst="line">
            <a:avLst/>
          </a:prstGeom>
          <a:noFill/>
          <a:ln w="25400">
            <a:solidFill>
              <a:srgbClr val="7EB3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İpek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İbrahimoğlu  ·  </a:t>
            </a:r>
            <a:r>
              <a:rPr lang="tr-TR" sz="1400" dirty="0">
                <a:solidFill>
                  <a:schemeClr val="bg1"/>
                </a:solidFill>
              </a:rPr>
              <a:t>ipek.ibrahimoglu@studenti.unimi.it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1828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abstracts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4206240"/>
            <a:ext cx="1828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83464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4206240"/>
            <a:ext cx="1828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75488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4206240"/>
            <a:ext cx="1828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1218</Words>
  <Application>Microsoft Office PowerPoint</Application>
  <PresentationFormat>Ekran Gösterisi (16:9)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Thematic Alignment in Scientific Journals</dc:title>
  <dc:subject>PptxGenJS Presentation</dc:subject>
  <dc:creator>PptxGenJS</dc:creator>
  <cp:lastModifiedBy>ipek ibrahimoğlu</cp:lastModifiedBy>
  <cp:revision>2</cp:revision>
  <dcterms:created xsi:type="dcterms:W3CDTF">2026-06-11T11:00:24Z</dcterms:created>
  <dcterms:modified xsi:type="dcterms:W3CDTF">2026-06-11T11:08:06Z</dcterms:modified>
</cp:coreProperties>
</file>